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272f5c00694ba6" /><Relationship Type="http://schemas.openxmlformats.org/officeDocument/2006/relationships/extended-properties" Target="/docProps/app.xml" Id="Rdb9630c9d149452c" /><Relationship Type="http://schemas.openxmlformats.org/officeDocument/2006/relationships/officeDocument" Target="/ppt/presentation.xml" Id="R90063f74975944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956fde156547a3"/>
  </p:sldMasterIdLst>
  <p:notesMasterIdLst>
    <p:notesMasterId xmlns:r="http://schemas.openxmlformats.org/officeDocument/2006/relationships" r:id="R39e17b2a31c64b96"/>
  </p:notesMasterIdLst>
  <p:sldIdLst>
    <p:sldId xmlns:r="http://schemas.openxmlformats.org/officeDocument/2006/relationships" id="256" r:id="Redea473b41ed40c9"/>
    <p:sldId xmlns:r="http://schemas.openxmlformats.org/officeDocument/2006/relationships" id="257" r:id="Rdc0bffef95c04568"/>
    <p:sldId xmlns:r="http://schemas.openxmlformats.org/officeDocument/2006/relationships" id="258" r:id="Ree44cd585d5b45a4"/>
    <p:sldId xmlns:r="http://schemas.openxmlformats.org/officeDocument/2006/relationships" id="259" r:id="Rbe2ea6679f7a458f"/>
    <p:sldId xmlns:r="http://schemas.openxmlformats.org/officeDocument/2006/relationships" id="260" r:id="R3fff9d0ef0e64b52"/>
    <p:sldId xmlns:r="http://schemas.openxmlformats.org/officeDocument/2006/relationships" id="261" r:id="R8b17085cc2b946d7"/>
    <p:sldId xmlns:r="http://schemas.openxmlformats.org/officeDocument/2006/relationships" id="262" r:id="Rf38362533ce344d8"/>
    <p:sldId xmlns:r="http://schemas.openxmlformats.org/officeDocument/2006/relationships" id="263" r:id="Rbc56264a27fe4511"/>
    <p:sldId xmlns:r="http://schemas.openxmlformats.org/officeDocument/2006/relationships" id="264" r:id="Rd6a09b5e5b9c4412"/>
    <p:sldId xmlns:r="http://schemas.openxmlformats.org/officeDocument/2006/relationships" id="265" r:id="R665d399427c145ed"/>
    <p:sldId xmlns:r="http://schemas.openxmlformats.org/officeDocument/2006/relationships" id="266" r:id="Rd48913d7acb14f13"/>
    <p:sldId xmlns:r="http://schemas.openxmlformats.org/officeDocument/2006/relationships" id="267" r:id="R5414bffdd4ad497e"/>
    <p:sldId xmlns:r="http://schemas.openxmlformats.org/officeDocument/2006/relationships" id="268" r:id="R262bc38d8a1041a2"/>
    <p:sldId xmlns:r="http://schemas.openxmlformats.org/officeDocument/2006/relationships" id="269" r:id="Re9d3ef4de08e45ab"/>
    <p:sldId xmlns:r="http://schemas.openxmlformats.org/officeDocument/2006/relationships" id="270" r:id="R715febd8b7f84603"/>
    <p:sldId xmlns:r="http://schemas.openxmlformats.org/officeDocument/2006/relationships" id="271" r:id="R985236f7f7f74b89"/>
    <p:sldId xmlns:r="http://schemas.openxmlformats.org/officeDocument/2006/relationships" id="272" r:id="Re486da74d85d424b"/>
    <p:sldId xmlns:r="http://schemas.openxmlformats.org/officeDocument/2006/relationships" id="273" r:id="Ra54df9c58e8c477a"/>
    <p:sldId xmlns:r="http://schemas.openxmlformats.org/officeDocument/2006/relationships" id="274" r:id="Rfd4bfb3a40c74439"/>
    <p:sldId xmlns:r="http://schemas.openxmlformats.org/officeDocument/2006/relationships" id="275" r:id="Rd9e81b09a68b47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d7c6d9f53f496c" /><Relationship Type="http://schemas.openxmlformats.org/officeDocument/2006/relationships/slideMaster" Target="/ppt/slideMasters/slideMaster1.xml" Id="R22956fde156547a3" /><Relationship Type="http://schemas.openxmlformats.org/officeDocument/2006/relationships/notesMaster" Target="/ppt/notesMasters/notesMaster1.xml" Id="R39e17b2a31c64b96" /><Relationship Type="http://schemas.openxmlformats.org/officeDocument/2006/relationships/presProps" Target="/ppt/presProps.xml" Id="Reda120abdd0646d8" /><Relationship Type="http://schemas.openxmlformats.org/officeDocument/2006/relationships/tableStyles" Target="/ppt/tableStyles.xml" Id="R33de0ce5066d47e0" /><Relationship Type="http://schemas.openxmlformats.org/officeDocument/2006/relationships/slide" Target="/ppt/slides/slide1.xml" Id="Redea473b41ed40c9" /><Relationship Type="http://schemas.openxmlformats.org/officeDocument/2006/relationships/slide" Target="/ppt/slides/slide2.xml" Id="Rdc0bffef95c04568" /><Relationship Type="http://schemas.openxmlformats.org/officeDocument/2006/relationships/slide" Target="/ppt/slides/slide3.xml" Id="Ree44cd585d5b45a4" /><Relationship Type="http://schemas.openxmlformats.org/officeDocument/2006/relationships/slide" Target="/ppt/slides/slide4.xml" Id="Rbe2ea6679f7a458f" /><Relationship Type="http://schemas.openxmlformats.org/officeDocument/2006/relationships/slide" Target="/ppt/slides/slide5.xml" Id="R3fff9d0ef0e64b52" /><Relationship Type="http://schemas.openxmlformats.org/officeDocument/2006/relationships/slide" Target="/ppt/slides/slide6.xml" Id="R8b17085cc2b946d7" /><Relationship Type="http://schemas.openxmlformats.org/officeDocument/2006/relationships/slide" Target="/ppt/slides/slide7.xml" Id="Rf38362533ce344d8" /><Relationship Type="http://schemas.openxmlformats.org/officeDocument/2006/relationships/slide" Target="/ppt/slides/slide8.xml" Id="Rbc56264a27fe4511" /><Relationship Type="http://schemas.openxmlformats.org/officeDocument/2006/relationships/slide" Target="/ppt/slides/slide9.xml" Id="Rd6a09b5e5b9c4412" /><Relationship Type="http://schemas.openxmlformats.org/officeDocument/2006/relationships/slide" Target="/ppt/slides/slide10.xml" Id="R665d399427c145ed" /><Relationship Type="http://schemas.openxmlformats.org/officeDocument/2006/relationships/slide" Target="/ppt/slides/slide11.xml" Id="Rd48913d7acb14f13" /><Relationship Type="http://schemas.openxmlformats.org/officeDocument/2006/relationships/slide" Target="/ppt/slides/slide12.xml" Id="R5414bffdd4ad497e" /><Relationship Type="http://schemas.openxmlformats.org/officeDocument/2006/relationships/slide" Target="/ppt/slides/slide13.xml" Id="R262bc38d8a1041a2" /><Relationship Type="http://schemas.openxmlformats.org/officeDocument/2006/relationships/slide" Target="/ppt/slides/slide14.xml" Id="Re9d3ef4de08e45ab" /><Relationship Type="http://schemas.openxmlformats.org/officeDocument/2006/relationships/slide" Target="/ppt/slides/slide15.xml" Id="R715febd8b7f84603" /><Relationship Type="http://schemas.openxmlformats.org/officeDocument/2006/relationships/slide" Target="/ppt/slides/slide16.xml" Id="R985236f7f7f74b89" /><Relationship Type="http://schemas.openxmlformats.org/officeDocument/2006/relationships/slide" Target="/ppt/slides/slide17.xml" Id="Re486da74d85d424b" /><Relationship Type="http://schemas.openxmlformats.org/officeDocument/2006/relationships/slide" Target="/ppt/slides/slide18.xml" Id="Ra54df9c58e8c477a" /><Relationship Type="http://schemas.openxmlformats.org/officeDocument/2006/relationships/slide" Target="/ppt/slides/slide19.xml" Id="Rfd4bfb3a40c74439" /><Relationship Type="http://schemas.openxmlformats.org/officeDocument/2006/relationships/slide" Target="/ppt/slides/slide20.xml" Id="Rd9e81b09a68b47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55379e5daa48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6ebd84fb643f1" /><Relationship Type="http://schemas.openxmlformats.org/officeDocument/2006/relationships/notesMaster" Target="/ppt/notesMasters/notesMaster1.xml" Id="Rb9cb4e9a909a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b670424ef94a37" /><Relationship Type="http://schemas.openxmlformats.org/officeDocument/2006/relationships/notesMaster" Target="/ppt/notesMasters/notesMaster1.xml" Id="R73b19cda1194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0d25c78df448ab" /><Relationship Type="http://schemas.openxmlformats.org/officeDocument/2006/relationships/notesMaster" Target="/ppt/notesMasters/notesMaster1.xml" Id="Rbd4b9795000f48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f76741dbea4eed" /><Relationship Type="http://schemas.openxmlformats.org/officeDocument/2006/relationships/notesMaster" Target="/ppt/notesMasters/notesMaster1.xml" Id="R7da0d123dd1a4f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ea8b7be04e479f" /><Relationship Type="http://schemas.openxmlformats.org/officeDocument/2006/relationships/notesMaster" Target="/ppt/notesMasters/notesMaster1.xml" Id="Rdb7f4d0baa7e4b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110224cb9481f" /><Relationship Type="http://schemas.openxmlformats.org/officeDocument/2006/relationships/notesMaster" Target="/ppt/notesMasters/notesMaster1.xml" Id="R4e2b252e933443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ebd96ddd944d93" /><Relationship Type="http://schemas.openxmlformats.org/officeDocument/2006/relationships/notesMaster" Target="/ppt/notesMasters/notesMaster1.xml" Id="Rab88910cc5c74e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218b0b1e0b4a2c" /><Relationship Type="http://schemas.openxmlformats.org/officeDocument/2006/relationships/notesMaster" Target="/ppt/notesMasters/notesMaster1.xml" Id="Raadaee753fbb4a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11bc3c372e40db" /><Relationship Type="http://schemas.openxmlformats.org/officeDocument/2006/relationships/notesMaster" Target="/ppt/notesMasters/notesMaster1.xml" Id="R0ad2a7e4a06642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402b48c9e84c4c" /><Relationship Type="http://schemas.openxmlformats.org/officeDocument/2006/relationships/notesMaster" Target="/ppt/notesMasters/notesMaster1.xml" Id="R7d1de348893543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22ea22da5941f0" /><Relationship Type="http://schemas.openxmlformats.org/officeDocument/2006/relationships/notesMaster" Target="/ppt/notesMasters/notesMaster1.xml" Id="R0af2156fe33f43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86845ccc58434c" /><Relationship Type="http://schemas.openxmlformats.org/officeDocument/2006/relationships/notesMaster" Target="/ppt/notesMasters/notesMaster1.xml" Id="R9ffb6806fafa4b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fc9ab361594136" /><Relationship Type="http://schemas.openxmlformats.org/officeDocument/2006/relationships/notesMaster" Target="/ppt/notesMasters/notesMaster1.xml" Id="Ra88653db7a2243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f395bc32f84067" /><Relationship Type="http://schemas.openxmlformats.org/officeDocument/2006/relationships/notesMaster" Target="/ppt/notesMasters/notesMaster1.xml" Id="Rbf08646dbdfb4f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800df8c79342aa" /><Relationship Type="http://schemas.openxmlformats.org/officeDocument/2006/relationships/notesMaster" Target="/ppt/notesMasters/notesMaster1.xml" Id="R1c46d76eb3704f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21e14f24454d7a" /><Relationship Type="http://schemas.openxmlformats.org/officeDocument/2006/relationships/notesMaster" Target="/ppt/notesMasters/notesMaster1.xml" Id="Rbab60bcc47d841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11cc66dada4d47" /><Relationship Type="http://schemas.openxmlformats.org/officeDocument/2006/relationships/notesMaster" Target="/ppt/notesMasters/notesMaster1.xml" Id="Rb3d8194f660443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ed5941927f45ed" /><Relationship Type="http://schemas.openxmlformats.org/officeDocument/2006/relationships/notesMaster" Target="/ppt/notesMasters/notesMaster1.xml" Id="R6321a4ca2c544f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980c8bb14f4422" /><Relationship Type="http://schemas.openxmlformats.org/officeDocument/2006/relationships/notesMaster" Target="/ppt/notesMasters/notesMaster1.xml" Id="R1b18394bf03d45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d93783f1294f1c" /><Relationship Type="http://schemas.openxmlformats.org/officeDocument/2006/relationships/notesMaster" Target="/ppt/notesMasters/notesMaster1.xml" Id="R5c420f55752c46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evidencia combina productividad agrícola, señales del proceso y tendencias de mercado. Las recomendaciones mantienen la incertidumbre visible y requieren comprobación local antes de ampliar su uso.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Renovación: validar L01-299 y HoCP14-885 bajo condiciones locales; los aportes son parciales y no representan rentabilidad neta. Caldera: usar el sensor virtual y las alertas como apoyo de revisión, nunca como control automático. Mercado: incorporar precio y oferta a la planificación sin interpretar asociaciones como causalidad.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HoCP14-885 aporta US$727.58 por acre/año bajo el escenario central; L01-299 aparece en el top 3 en 500 de 500 remuestreos. El sensor virtual con 17 señales logra MAE 0.356 y WAPE 0.598% en validación retrospectiva. El rendimiento relativo de Guatemala frente a pares estuvo entre 1.66 y 1.73 en 2019–2021; la volatilidad anualizada del precio fue 33.36%.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referencia usa precio central de US$0.20/lb y horizontes seleccionados. Aportes parciales exactos por acre/año: HoCP14-885 US$727.58, L01-299 US$632.66 y Ho12-615 US$629.21. No son utilidad neta: faltan costos completos y condiciones de escala. P05–P95 resume remuestreo; no son probabilidades de superioridad.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Ridge se seleccionó con validación 2019–2020 y se evaluó en 2021 como año reservado. Su MAE fue 2,145 lb/acre, frente a 2,270 de la referencia reciente y 2,663 de la media histórica. El R² de 0.251 deja amplia variación sin explicar y limita su uso como regla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ampliar superficie, conviene comparar los candidatos con testigos bajo condiciones equivalentes y cosechas comparables. El registro de ambiente, edad, manejo, cosecha y calidad permite interpretar diferencias. El aporte económico debe recalcularse con costos y precios vigentes.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perfil 1 representa 37.6% y el perfil 2, 62.4% de las observaciones analizadas. El segundo combina mayor flujo secundario y señales térmicas distintas, mientras la temperatura final de vapor es casi igual. El patrón es compatible con compensación operativa, pero las unidades y el linaje instrumental incompletos impiden concluir eficiencia o falla.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Agregar presión de vapor y domo con rezago de 30 segundos reduce el MAE de 0.458 a 0.356 en las validaciones disponibles; el WAPE pasa de 0.769% a 0.598%. Son métricas retrospectivas, no garantías de desempeño en vivo. No se evaluó una quinta jornada independiente y faltan unidades confirmadas para todas las señales.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detección multivariada marcó 28 episodios; la revisión térmica agrupó cuatro episodios de 470 a 1270 segundos. El método complementario de corrientes y retornos produjo 384 marcas y dos alertas sostenidas. Una marca no equivale a avería. Su revisión debe corroborar sensor, redundancias y contexto del proceso.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cociente Guatemala/mediana de pares estructurales fue 1.68 en 2019, 1.73 en 2020 y 1.66 en 2021. Guatemala mantuvo rendimiento alto en esos años comparables. El descenso de 2023 y la tendencia estimada no identifican causas; área cosechada tampoco equivale a nuevas siembras.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volatilidad anualizada fue 33.36% en la serie observada y 31.10% al restringir la muestra. La cobertura llega a 2024 e incluye observaciones spot puntuales; no es una serie oficial continua certificada. Los pronósticos son escenarios calculados al corte de mayo de 2024, no precios actuales. La referencia ingenua superó a los candidatos en la selección principal.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el mundo, los precios rezagados se asocian con cambios de área (0.718) y producción (0.776). En Guatemala, las correlaciones son 0.310 y 0.001. Los atributos de precio reducen error global frente a la media, pero empeoran la referencia para Guatemala. Son asociaciones retrospectivas, no efectos causales; área cosechada no equivale a nuevas siembras.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escenario sintético, construido con medianas del ajuste, devuelve 59.3300388871 en una unidad nativa no certificada; no representa una observación real. La inferencia de ZZQBCHLL.AV_0# usa 15 señales actuales y dos presiones con rezago de 30 segundos, que deben prepararse aguas arriba. La API admite CSV de una fila o JSON; la interfaz es consultiva y no diagnostica fallas ni cuantifica ahorros. La unidad y el linaje instrumental requieren confirmación.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MLflow registra seis candidatos y una corrida padre con artefactos existentes; no hubo reentrenamiento. Ridge de 17 variables quedó en Registry como serie2_sensor_virtual_ridge_17, versión 1. El modelo cargado desde Registry reproduce 59.3300388871 en el escenario sintético. El store es local y no se distribuye; no hay monitoreo productivo. Métricas: MAE medio de validación 0.3560258200 y WAPE 0.598068%.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expansión requiere comprobar unidades y linaje de variables, contrastar alertas con instrumentación y operación, ensayar lotes testigo para renovación y actualizar los precios con una fuente y un corte definidos. Beneficios económicos requieren medición de costos y resultados.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prioridad es validar las recomendaciones de renovación y corroborar las alertas con datos instrumentales. Las señales de mercado describen escenarios históricos y deben actualizarse antes de decidir.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Serie I usa validación temporal y remuestreo; Serie II, evaluación retrospectiva y detección no supervisada; Serie III, comparación entre pares y análisis de rezagos de precio.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MAE resume error absoluto medio; menor valor indica menor error en esa evaluación. P05–P95 son percentiles del remuestreo. Área cosechada no equivale a nuevas siembras.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renovación se sustenta en políticas, bandas de remuestreo y ranking de candidatos. Las métricas del sensor están en los resúmenes de rezagos, regímenes y episodios. La comparación de productividad, precios y oferta se documenta en los archivos consolidados de la Serie III.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datos operativos no tienen unidades instrumentales completas y las alertas requieren corroboración. Los modelos son retrospectivos. La estimación económica no equivale a VAN, rentabilidad neta ni ahorro. Las asociaciones de mercado no demuestran causalidad.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12da66f4142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bf684115646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ef314d9da4f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c196624a74f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241f6f0d148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2a5b1c33f45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C59EFE-F5AC-4032-ADD7-4EB6A8E38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85CDE6-C97B-4879-91D6-B16DEF7407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9B87D2-CAFA-4479-A63A-DE4A807AE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D52B08-9445-4B1E-87FF-1C669150D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B65314-9E24-4055-B623-E647928ABD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2CD77E-A0C5-4AEA-AC40-561B908A43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AC8133-2C48-4656-8324-0E973F764A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AF9576-78EC-4C4E-9F06-34FF60B502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305259-A282-45CC-B18C-DE593CE71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AA96AC-D849-4A46-85A1-7A1DD09CBD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7a5d8e3be44f75" /><Relationship Type="http://schemas.openxmlformats.org/officeDocument/2006/relationships/slideLayout" Target="/ppt/slideLayouts/slideLayout1.xml" Id="R9fddda1ab50a4459" /><Relationship Type="http://schemas.openxmlformats.org/officeDocument/2006/relationships/slideLayout" Target="/ppt/slideLayouts/slideLayout2.xml" Id="Rc82e7c03ff04419a" /><Relationship Type="http://schemas.openxmlformats.org/officeDocument/2006/relationships/slideLayout" Target="/ppt/slideLayouts/slideLayout3.xml" Id="R0da788904aa746db" /><Relationship Type="http://schemas.openxmlformats.org/officeDocument/2006/relationships/slideLayout" Target="/ppt/slideLayouts/slideLayout4.xml" Id="R5692673f0f024ba8" /><Relationship Type="http://schemas.openxmlformats.org/officeDocument/2006/relationships/slideLayout" Target="/ppt/slideLayouts/slideLayout5.xml" Id="R80057c9920e34e51" /><Relationship Type="http://schemas.openxmlformats.org/officeDocument/2006/relationships/slideLayout" Target="/ppt/slideLayouts/slideLayout6.xml" Id="Rd82fc8beb9a5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ddda1ab50a4459"/>
    <p:sldLayoutId xmlns:r="http://schemas.openxmlformats.org/officeDocument/2006/relationships" id="2147483650" r:id="Rc82e7c03ff04419a"/>
    <p:sldLayoutId xmlns:r="http://schemas.openxmlformats.org/officeDocument/2006/relationships" id="2147483651" r:id="R0da788904aa746db"/>
    <p:sldLayoutId xmlns:r="http://schemas.openxmlformats.org/officeDocument/2006/relationships" id="2147483652" r:id="R5692673f0f024ba8"/>
    <p:sldLayoutId xmlns:r="http://schemas.openxmlformats.org/officeDocument/2006/relationships" id="2147483653" r:id="R80057c9920e34e51"/>
    <p:sldLayoutId xmlns:r="http://schemas.openxmlformats.org/officeDocument/2006/relationships" id="2147483654" r:id="Rd82fc8beb9a5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ec640b41d48b9" /><Relationship Type="http://schemas.openxmlformats.org/officeDocument/2006/relationships/notesSlide" Target="/ppt/notesSlides/notesSlide1.xml" Id="R4f0bc1a5b9e143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b13fd28424e8a" /><Relationship Type="http://schemas.openxmlformats.org/officeDocument/2006/relationships/notesSlide" Target="/ppt/notesSlides/notesSlide2.xml" Id="Rb2fd55d4da66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eaf4a02094c07" /><Relationship Type="http://schemas.openxmlformats.org/officeDocument/2006/relationships/notesSlide" Target="/ppt/notesSlides/notesSlide3.xml" Id="Rfd84984d5c7b4c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dcd9a2eeb45b8" /><Relationship Type="http://schemas.openxmlformats.org/officeDocument/2006/relationships/chart" Target="/ppt/slides/charts/chart1.xml" Id="R399d568658574772" /><Relationship Type="http://schemas.openxmlformats.org/officeDocument/2006/relationships/notesSlide" Target="/ppt/notesSlides/notesSlide4.xml" Id="R0a5291f4597342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3bef1c72f4c19" /><Relationship Type="http://schemas.openxmlformats.org/officeDocument/2006/relationships/chart" Target="/ppt/slides/charts/chart2.xml" Id="R103885d93411408e" /><Relationship Type="http://schemas.openxmlformats.org/officeDocument/2006/relationships/notesSlide" Target="/ppt/notesSlides/notesSlide5.xml" Id="R363223d223e04a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3b7a0fc9034d00" /><Relationship Type="http://schemas.openxmlformats.org/officeDocument/2006/relationships/notesSlide" Target="/ppt/notesSlides/notesSlide6.xml" Id="Rd9ee019fcbb949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ff0a0dcbc447df" /><Relationship Type="http://schemas.openxmlformats.org/officeDocument/2006/relationships/notesSlide" Target="/ppt/notesSlides/notesSlide7.xml" Id="R879e199c2f164b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d4275c909240bd" /><Relationship Type="http://schemas.openxmlformats.org/officeDocument/2006/relationships/chart" Target="/ppt/slides/charts/chart3.xml" Id="R6973d80bb4b74755" /><Relationship Type="http://schemas.openxmlformats.org/officeDocument/2006/relationships/notesSlide" Target="/ppt/notesSlides/notesSlide8.xml" Id="R9cabdf7788d443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489614c694a1d" /><Relationship Type="http://schemas.openxmlformats.org/officeDocument/2006/relationships/notesSlide" Target="/ppt/notesSlides/notesSlide9.xml" Id="R20e12e0358364a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6cc8509894ac2" /><Relationship Type="http://schemas.openxmlformats.org/officeDocument/2006/relationships/chart" Target="/ppt/slides/charts/chart4.xml" Id="Rc5dace15feec4edd" /><Relationship Type="http://schemas.openxmlformats.org/officeDocument/2006/relationships/notesSlide" Target="/ppt/notesSlides/notesSlide10.xml" Id="Rda2cb77157c54e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56400f2a24f5a" /><Relationship Type="http://schemas.openxmlformats.org/officeDocument/2006/relationships/notesSlide" Target="/ppt/notesSlides/notesSlide11.xml" Id="R4e3409001da44e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b0fa083df4c02" /><Relationship Type="http://schemas.openxmlformats.org/officeDocument/2006/relationships/notesSlide" Target="/ppt/notesSlides/notesSlide12.xml" Id="Rbfe271b63be54e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841d09c9a40b1" /><Relationship Type="http://schemas.openxmlformats.org/officeDocument/2006/relationships/notesSlide" Target="/ppt/notesSlides/notesSlide13.xml" Id="R16841bf845404b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a8d147ea34ce7" /><Relationship Type="http://schemas.openxmlformats.org/officeDocument/2006/relationships/notesSlide" Target="/ppt/notesSlides/notesSlide14.xml" Id="R5662a09020ab4b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2c418097a428d" /><Relationship Type="http://schemas.openxmlformats.org/officeDocument/2006/relationships/notesSlide" Target="/ppt/notesSlides/notesSlide15.xml" Id="Rcbc6497395a84d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3aa596dd94cfa" /><Relationship Type="http://schemas.openxmlformats.org/officeDocument/2006/relationships/notesSlide" Target="/ppt/notesSlides/notesSlide16.xml" Id="R1b5e97646ce24d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cbe49cfe6460e" /><Relationship Type="http://schemas.openxmlformats.org/officeDocument/2006/relationships/notesSlide" Target="/ppt/notesSlides/notesSlide17.xml" Id="R95acaf92dd824e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2d6e1da414c94" /><Relationship Type="http://schemas.openxmlformats.org/officeDocument/2006/relationships/notesSlide" Target="/ppt/notesSlides/notesSlide18.xml" Id="Red5fb900743843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5bef8301c4756" /><Relationship Type="http://schemas.openxmlformats.org/officeDocument/2006/relationships/notesSlide" Target="/ppt/notesSlides/notesSlide19.xml" Id="R755ffe2f2cd24b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6a9114eeb455e" /><Relationship Type="http://schemas.openxmlformats.org/officeDocument/2006/relationships/notesSlide" Target="/ppt/notesSlides/notesSlide20.xml" Id="R669f8a35b723431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Aporte parcial esperado · US$/acre/año</a:t>
            </a:r>
          </a:p>
        </c:rich>
      </c:tx>
      <c:overlay val="0"/>
    </c:title>
    <c:plotArea>
      <c:barChart>
        <c:barDir val="bar"/>
        <c:grouping val="clustered"/>
        <c:varyColors val="0"/>
        <c:ser>
          <c:idx val="0"/>
          <c:order val="0"/>
          <c:tx>
            <c:v>Aporte</c:v>
          </c:tx>
          <c:spPr>
            <a:solidFill xmlns:a="http://schemas.openxmlformats.org/drawingml/2006/main">
              <a:srgbClr val="2C7A6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HoCP14-885</c:v>
                </c:pt>
                <c:pt idx="1">
                  <c:v>L01-299</c:v>
                </c:pt>
                <c:pt idx="2">
                  <c:v>Ho12-615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727.579731</c:v>
                </c:pt>
                <c:pt idx="1">
                  <c:v>632.655322</c:v>
                </c:pt>
                <c:pt idx="2">
                  <c:v>629.213812</c:v>
                </c:pt>
              </c:numCache>
            </c:numRef>
          </c:val>
        </c:ser>
        <c:dLbls>
          <c:numFmt formatCode="#,##0.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DAC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MAE 2021 · menor es mejor (lb/acre)</a:t>
            </a:r>
          </a:p>
        </c:rich>
      </c:tx>
      <c:overlay val="0"/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53B3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Ridge</c:v>
                </c:pt>
                <c:pt idx="1">
                  <c:v>Referencia reciente</c:v>
                </c:pt>
                <c:pt idx="2">
                  <c:v>Media histórica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2144.546</c:v>
                </c:pt>
                <c:pt idx="1">
                  <c:v>2270.33</c:v>
                </c:pt>
                <c:pt idx="2">
                  <c:v>2662.687</c:v>
                </c:pt>
              </c:numCache>
            </c:numRef>
          </c:val>
        </c:ser>
        <c:dLbls>
          <c:numFmt formatCode="#,##0.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C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MAE por configuración · menor es mejor</a:t>
            </a:r>
          </a:p>
        </c:rich>
      </c:tx>
      <c:overlay val="0"/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C7A6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15 señales actuales</c:v>
                </c:pt>
                <c:pt idx="1">
                  <c:v>17 señales + presión −30 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0.457744</c:v>
                </c:pt>
                <c:pt idx="1">
                  <c:v>0.356026</c:v>
                </c:pt>
              </c:numCache>
            </c:numRef>
          </c:val>
        </c:ser>
        <c:dLbls>
          <c:numFmt formatCode="#,##0.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C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Rendimiento relativo a pares estructurales (mediana = 1)</a:t>
            </a:r>
          </a:p>
        </c:rich>
      </c:tx>
      <c:overlay val="0"/>
    </c:title>
    <c:plotArea>
      <c:lineChart>
        <c:grouping val="standard"/>
        <c:varyColors val="0"/>
        <c:ser>
          <c:idx val="0"/>
          <c:order val="0"/>
          <c:tx>
            <c:v>Guatemala / pares</c:v>
          </c:tx>
          <c:spPr>
            <a:solidFill xmlns:a="http://schemas.openxmlformats.org/drawingml/2006/main">
              <a:srgbClr val="153B32"/>
            </a:solidFill>
          </c:spPr>
          <c:marker>
            <c:symbol val="none"/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1.679</c:v>
                </c:pt>
                <c:pt idx="1">
                  <c:v>1.725</c:v>
                </c:pt>
                <c:pt idx="2">
                  <c:v>1.662</c:v>
                </c:pt>
              </c:numCache>
            </c:numRef>
          </c:val>
          <c:smooth val="0"/>
        </c:ser>
        <c:dLbls>
          <c:numFmt formatCode="#,##0.00" sourceLinked="0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C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4C192-D525-49B1-89AF-0E9474B3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7D4CA"/>
                </a:solidFill>
                <a:latin typeface="Calibri"/>
                <a:ea typeface="Calibri"/>
                <a:cs typeface="Calibri"/>
              </a:rPr>
              <a:t>INGENIO SANTA ANA  / 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5E7E1-22D9-422D-90AA-54D14BB6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28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Datos para decidir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 cautela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BC05B-B6B4-4A79-8604-C1A1FAAA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6E2D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6E2D8"/>
                </a:solidFill>
                <a:latin typeface="Calibri"/>
                <a:ea typeface="Calibri"/>
                <a:cs typeface="Calibri"/>
              </a:rPr>
              <a:t>Decisiones agrícolas, operativas y de mercado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FF969-B8AB-45E2-8152-AEF3FF17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defPPr>
            <a:lvl1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1pPr>
            <a:lvl2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2pPr>
            <a:lvl3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3pPr>
            <a:lvl4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4pPr>
            <a:lvl5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5pPr>
            <a:lvl6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6pPr>
            <a:lvl7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7pPr>
            <a:lvl8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8pPr>
            <a:lvl9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7D4CA"/>
                </a:solidFill>
                <a:latin typeface="Calibri"/>
                <a:ea typeface="Calibri"/>
                <a:cs typeface="Calibri"/>
              </a:rPr>
              <a:t>Caña y renovación  ·  proceso industrial  ·  mercado y oferta</a:t>
            </a:r>
          </a:p>
        </p:txBody>
      </p:sp>
    </p:spTree>
    <p:extLst>
      <p:ext uri="{BB962C8B-B14F-4D97-AF65-F5344CB8AC3E}">
        <p14:creationId xmlns:p14="http://schemas.microsoft.com/office/powerpoint/2010/main" val="1750371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EF050-E925-42E0-B162-55358F66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SÍNTESIS EJECUTIVA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10257-6361-442E-8923-5B0F141D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Tres decisiones merecen atención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A409D-B36E-4CE9-B47D-86F9E15E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Fuentes: resultados documentados de las Series I–III.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69078-8BE0-4533-B43B-41CF8B57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Renovación: priorizar validación de L01-299 y HoCP14-885 bajo condiciones locales.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78FD3-D6C6-425C-89B2-7316A907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Caldera: usar el sensor virtual y las alertas como apoyo de revisión, no como control automático.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9B2C0-C2B2-4030-A1A4-EFC90B6E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Mercado: incorporar precio y oferta a la planificación; conservar escenarios y límites explícitos.</a:t>
            </a:r>
          </a:p>
        </p:txBody>
      </p:sp>
    </p:spTree>
    <p:extLst>
      <p:ext uri="{BB962C8B-B14F-4D97-AF65-F5344CB8AC3E}">
        <p14:creationId xmlns:p14="http://schemas.microsoft.com/office/powerpoint/2010/main" val="1823006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93AAD-661D-4871-99E7-CF6888B3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RESULTADOS CLAVE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91C0F-DA20-40B1-856C-3587FB0D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Tres resultados cuantifican las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34800-E1BD-4074-97B7-2936CC07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Fuentes: outputs/serie1_ranking/resumen_ranking.csv; outputs/rezagos/resumen.csv; outputs/serie3_segmentacion/referencia_productividad.csv; outputs/serie3_precios/volatilidad_anual.csv.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4F116-AB5F-439D-8679-B249A3D2BDD0}"/>
              </a:ext>
            </a:extLst>
          </p:cNvPr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Ámbito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Resultado observado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Implicación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Renovación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HoCP14-885: US$727.58/acre/año; L01-299 top 3 en 500/500 remuestreos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Validar en lotes comparables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Sensor virtual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MAE 0.356; WAPE 0.598% con presión rezagada 30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Uso retrospectivo; falta validar fuera de jornadas disponibles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Mercado y cultivo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Guatemala: 1.66–1.73 veces pares en 2019–2021; volatilidad 33.36%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Considerar diferencia de escala e incertidumbre de precio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192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83064-CA8A-472B-A258-5A7C0D4A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SERIE I · CAÑA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46550-07C9-4294-A3BA-B8F12422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La renovación favorece tres candidatos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FB3E5-33B6-4AE7-9C74-4FD565B5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Resultados: data/processed/serie1_politicas_renovacion.csv; serie1_incertidumbre_economica.csv.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B50360C-A9A8-4E35-B56E-A5B5A100DBEC}"/>
              </a:ext>
            </a:extLst>
          </p:cNvPr>
          <p:cNvGraphicFramePr/>
          <p:nvPr/>
        </p:nvGraphicFramePr>
        <p:xfrm>
          <a:off xmlns:a="http://schemas.openxmlformats.org/drawingml/2006/main" x="1238250" y="1714500"/>
          <a:ext xmlns:a="http://schemas.openxmlformats.org/drawingml/2006/main" cx="9429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9d56865857477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204AC-2D15-4A39-880C-783DFF0A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Precio central US$0.20/lb · 3 cosechas para HoCP14-885; 4 para L01-299 y Ho12-615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0B90C-DBA8-4973-9D7A-945434E5AFE3}"/>
              </a:ext>
            </a:extLst>
          </p:cNvPr>
          <p:cNvGraphicFramePr/>
          <p:nvPr/>
        </p:nvGraphicFramePr>
        <p:xfrm>
          <a:off xmlns:a="http://schemas.openxmlformats.org/drawingml/2006/main" x="952500" y="4905375"/>
          <a:ext xmlns:a="http://schemas.openxmlformats.org/drawingml/2006/main" cx="10287000" cy="110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571750"/>
                <a:gridCol w="2571750"/>
                <a:gridCol w="2571750"/>
              </a:tblGrid>
              <a:tr h="2762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Variedad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Aporte parcial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P05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HoCP14-885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US$727.58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US$652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US$834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L01-299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US$632.66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US$572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US$700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Ho12-615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US$629.21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US$570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US$684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4110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9CAEE-57C1-466E-92AB-8F945B0C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SERIE I · PRODUCTIVIDAD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103B1-0CBB-45D5-9B3D-B3017A04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Ridge supera referencias en la validación de 2021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38E44-7560-401C-9992-D79459A3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Resultados: data/processed/serie1_evaluacion_2021.csv; serie1_validacion_modelos.csv.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514A266-49D6-4DC8-A1CA-22EB6AF18E23}"/>
              </a:ext>
            </a:extLst>
          </p:cNvPr>
          <p:cNvGraphicFramePr/>
          <p:nvPr/>
        </p:nvGraphicFramePr>
        <p:xfrm>
          <a:off xmlns:a="http://schemas.openxmlformats.org/drawingml/2006/main" x="1143000" y="1809750"/>
          <a:ext xmlns:a="http://schemas.openxmlformats.org/drawingml/2006/main" cx="9525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3885d93411408e"/>
          </a:graphicData>
        </a:graphic>
      </p:graphicFrame>
    </p:spTree>
    <p:extLst>
      <p:ext uri="{BB962C8B-B14F-4D97-AF65-F5344CB8AC3E}">
        <p14:creationId xmlns:p14="http://schemas.microsoft.com/office/powerpoint/2010/main" val="1138047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56BF3-3697-40A7-8DE8-2CC068C2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SERIE I ·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E4822-8B9D-4B54-966B-334B8026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El diseño local debe comprobar la recomendación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DF15B-1B7F-466C-AE8C-81E9DDF3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Fuente: docs/conclusiones-serie-I.md y artefactos de renovación.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CD2E8-1F54-4440-8E4B-B99BAEDE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047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Comparar los candidatos con una referencia local bajo condiciones equivalentes.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16025-C4F8-4D30-8FD8-A536A176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47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Registrar ambiente, edad, manejo, cosecha y calidad para interpretar diferencias.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ECD46-E4C4-412D-9B96-2060553C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047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Recalcular aporte con costos y precios vigentes antes de escalar.</a:t>
            </a:r>
          </a:p>
        </p:txBody>
      </p:sp>
    </p:spTree>
    <p:extLst>
      <p:ext uri="{BB962C8B-B14F-4D97-AF65-F5344CB8AC3E}">
        <p14:creationId xmlns:p14="http://schemas.microsoft.com/office/powerpoint/2010/main" val="482102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15E49-9088-439D-9BA2-B030A70C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SERIE II · PROCESO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D8B2D-BC95-42F8-8668-5BD6B11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Dos perfiles describen regímenes distintos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111C9-EFD4-4674-9BF7-19A1E703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Resultados: outputs/regimenes/resumen_regimenes.csv; docs/conclusiones-serie-II.md.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98FDF-EF89-431A-88F5-1A991CF61B68}"/>
              </a:ext>
            </a:extLst>
          </p:cNvPr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Indicador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Perfil 1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Perfil 2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Proporción de observaciones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37.6%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62.4%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Temperatura final vapor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537.88 °C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537.44 °C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Productividad media (referencia de Serie I)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7,996.99 lb/acre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8,376.22 lb/acre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88570-49ED-4983-9074-84C9CCEB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Perfiles estadísticos, no modos operativos certificados</a:t>
            </a:r>
          </a:p>
        </p:txBody>
      </p:sp>
    </p:spTree>
    <p:extLst>
      <p:ext uri="{BB962C8B-B14F-4D97-AF65-F5344CB8AC3E}">
        <p14:creationId xmlns:p14="http://schemas.microsoft.com/office/powerpoint/2010/main" val="1470970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DD8A0-538B-46A2-8B5F-ECFBB432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SERIE II · SENSOR VIRTUAL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62FBA-100D-430F-A7EE-B72DC7C3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La presión rezagada mejora la predicción retrospectiva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4024B-D04B-4A4B-ABE1-29925695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Resultados: outputs/rezagos/resumen.csv.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D57CC84-417E-4887-92ED-A85291EEC182}"/>
              </a:ext>
            </a:extLst>
          </p:cNvPr>
          <p:cNvGraphicFramePr/>
          <p:nvPr/>
        </p:nvGraphicFramePr>
        <p:xfrm>
          <a:off xmlns:a="http://schemas.openxmlformats.org/drawingml/2006/main" x="1047750" y="1809750"/>
          <a:ext xmlns:a="http://schemas.openxmlformats.org/drawingml/2006/main" cx="9715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73d80bb4b7475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2619D-4C81-4117-8F06-8EB3347B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Mejora relativa del MAE: 22.2% en la validación retrospectiva</a:t>
            </a:r>
          </a:p>
        </p:txBody>
      </p:sp>
    </p:spTree>
    <p:extLst>
      <p:ext uri="{BB962C8B-B14F-4D97-AF65-F5344CB8AC3E}">
        <p14:creationId xmlns:p14="http://schemas.microsoft.com/office/powerpoint/2010/main" val="970789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118E3-152F-40A1-972D-342D5448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SERIE II · ANOMALÍAS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44A7D-6495-40F4-9F78-E65EA7B8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Las alertas indican episodios para revisar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65464-C0D4-48F7-BE84-8F68DF03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Resultados: outputs/anomalias/resumen_episodios.csv; outputs/revision_termica/episodios_revisados.csv.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3C793-D6C0-4BE6-918A-9A50C517086A}"/>
              </a:ext>
            </a:extLst>
          </p:cNvPr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Hallazgo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Lectura correcta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Siguiente revisión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28 episodios multivariados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Cambios coordinados en señales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Cruzar con operación y bitácora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4 episodios térmicos revisados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Desvíos persistentes, sin falla confirmada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Verificar sensores y condición del equipo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2 alertas sostenidas complementarias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Prioridad de revisión, no alarma certificada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Confirmar con instrumentación y operador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3740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5DDC6-A728-420E-9CD5-D9359C3F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SERIE III · PRODUCTIVIDAD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B14DA-F700-4656-8544-A1659610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Guatemala se ubica en un perfil de alto rendimiento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E5968-CFBB-4AB4-83F6-809D28F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Resultados: outputs/serie3_segmentacion/referencia_productividad.csv; docs/conclusiones-serie-III.md.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905C816-5771-447B-A844-AF709D438FA4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9715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dace15feec4ed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EB32A-26FD-47A2-BE90-99E23B22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Mediana Guatemala: 107.52 t/ha  ·  pares estructurales: 49.67–74.60 t/ha</a:t>
            </a:r>
          </a:p>
        </p:txBody>
      </p:sp>
    </p:spTree>
    <p:extLst>
      <p:ext uri="{BB962C8B-B14F-4D97-AF65-F5344CB8AC3E}">
        <p14:creationId xmlns:p14="http://schemas.microsoft.com/office/powerpoint/2010/main" val="1501053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A56D8-2CE3-4541-9E35-0E1F2D6A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SERIE III ·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5CB83-3E32-4B37-9186-D28F286D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El precio conserva alta volatilidad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6E15-9545-4395-95CC-D685A0F5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Resultados: outputs/serie3_precios/volatilidad_anual.csv; outputs/serie3_pronostico_ampliado/pronosticos_propuestos.csv.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DF175-8DAA-4E09-B5D8-A7319771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Volatilidad anualizada: 33.36% observada; 31.10% en muestra restringida.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4FE9D-BB7C-4981-983F-6FAECA1F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Pronóstico archivado a junio de 2024: 18.25 ¢/lb; banda 80%: 16.98–19.61.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D424F-B419-4A8B-8758-677D14E9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La fecha de corte y la referencia ingenua deben acompañar toda lectura del pronóstico.</a:t>
            </a:r>
          </a:p>
        </p:txBody>
      </p:sp>
    </p:spTree>
    <p:extLst>
      <p:ext uri="{BB962C8B-B14F-4D97-AF65-F5344CB8AC3E}">
        <p14:creationId xmlns:p14="http://schemas.microsoft.com/office/powerpoint/2010/main" val="17569726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D5863-96A1-412D-A4D7-21D2420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SERIE III · MERCADO Y PRODUCCIÓN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CE09B-2566-40DE-A9B7-CE7C14BC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La oferta global aporta contexto; Guatemala exige cautela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A7DC7-C13D-408F-B034-B9631ADA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Resultados: outputs/serie3_oferta/metricas_temporales.csv; outputs/serie3_oferta_paises/{metricas_temporales,correlaciones}.csv.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80522-6532-48FB-84A5-7E59331ACB58}"/>
              </a:ext>
            </a:extLst>
          </p:cNvPr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Relación a dos años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Mundo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Guatemala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Precio ↔ área cosechada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0.718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0.310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Precio ↔ producción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0.776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0.001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Lectura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Asociación retrospectiva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No usar como señal predictiva local confirmada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529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873AC-A45B-4785-B57B-9D3AEBCE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APLICACIÓN CONSULTIVA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23D0A-FF44-4796-94ED-D86C815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La interfaz facilita consultas al sensor virtual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AF741-C07E-4F1A-95AE-7D11D17F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Fuente: /app y servicio de inferencia de Serie II.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2FB69-2874-47A8-B5BE-AA79E334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Demo sintética: resultado 59.33 en unidad nativa no certificada.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6A236-BE13-4954-8E34-6D0D2EDC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Estimación ZZQBCHLL.AV_0#: 15 señales actuales + 2 presiones con rezago de 30 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54E0A-EAC6-42A4-90BF-F29A2FC0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Entrada API: CSV de una fila o JSON; plantilla en /template.csv.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F8E60-1A38-4A68-85EC-4A3DDA28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Interfaz consultiva: no diagnostica fallas, no controla ni calcula ahorros.</a:t>
            </a:r>
          </a:p>
        </p:txBody>
      </p:sp>
    </p:spTree>
    <p:extLst>
      <p:ext uri="{BB962C8B-B14F-4D97-AF65-F5344CB8AC3E}">
        <p14:creationId xmlns:p14="http://schemas.microsoft.com/office/powerpoint/2010/main" val="5389833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25279-FF63-4FD2-8A61-82417E53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TRAZABILIDAD DEL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3F5EF-49F2-419D-BF07-90052D3B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MLflow conserva la evaluación retrospectiva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1731E-7899-4957-BEE5-91EAE95F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Registro local de Serie II; Ridge de 17 variables.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418C0-5458-4A87-AB24-FCD8FC60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6 candidatos y 1 corrida padre registrados de forma retrospectiva.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7DA87-0EE5-4A79-951B-356F3F87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Ridge de 17 variables en Registry · versión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13EAE-1D96-4578-ADB7-C21B3167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La reproducción coincide con el escenario sintético; no es una lectura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B3D02-F203-46A7-BF7E-B310E553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Store local; no hay monitoreo productivo ni reentrenamiento.</a:t>
            </a:r>
          </a:p>
        </p:txBody>
      </p:sp>
    </p:spTree>
    <p:extLst>
      <p:ext uri="{BB962C8B-B14F-4D97-AF65-F5344CB8AC3E}">
        <p14:creationId xmlns:p14="http://schemas.microsoft.com/office/powerpoint/2010/main" val="18175591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BFD97-75E8-4D45-AD36-D42CEC0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SIGUIENTES VALIDACIONES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6997F-2801-4FAC-9772-885DBCAE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Validaciones antes de ampliar el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8B2D3-0256-4525-A25F-075C81D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Fuentes: Series I–III; criterios de avance basados en límites observados.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0C044-75B1-45C0-9DF9-205320E188E5}"/>
              </a:ext>
            </a:extLst>
          </p:cNvPr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Frente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Próxima comprobación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Criterio para avanzar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Renovación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Lotes testigo comparables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Diferencia reproducible y costos vigentes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Sensor / alertas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Confirmar sensores y episodios con operación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Unidad, trazabilidad y falso positivo aceptable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Mercado / oferta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Actualizar precio y validar fuera de muestra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Corte explícito y mejora frente a referencia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8208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5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A0EC1-2258-47E2-8536-7F2686BC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7D4C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7D4CA"/>
                </a:solidFill>
                <a:latin typeface="Calibri"/>
                <a:ea typeface="Calibri"/>
                <a:cs typeface="Calibri"/>
              </a:rPr>
              <a:t>DECISIÓN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B1036-7357-4494-88DA-5F53A213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019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evidencia ordena preguntas.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operación confirma decisiones.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6866D-834E-41E4-B1F0-9E6E6B0C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7E3DC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7E3DC"/>
                </a:solidFill>
                <a:latin typeface="Calibri"/>
                <a:ea typeface="Calibri"/>
                <a:cs typeface="Calibri"/>
              </a:rPr>
              <a:t>Renovación con testigos  ·  alertas con corroboración  ·  mercado con fecha de corte</a:t>
            </a:r>
          </a:p>
        </p:txBody>
      </p:sp>
    </p:spTree>
    <p:extLst>
      <p:ext uri="{BB962C8B-B14F-4D97-AF65-F5344CB8AC3E}">
        <p14:creationId xmlns:p14="http://schemas.microsoft.com/office/powerpoint/2010/main" val="21264708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74631-BDC7-46D9-A200-FBF17685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APÉNDICE · MÉTODO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2FE36-0D00-4A63-A30C-E8A39883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Cómo se evaluó la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745CB-15F0-49EB-AFE9-9BE7B1F4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Series I–III: validación temporal, remuestreo y detección no supervisada.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FA765-913A-485B-B696-C95D4CFB846F}"/>
              </a:ext>
            </a:extLst>
          </p:cNvPr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Componente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Evaluación existente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Límite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Productividad / Serie 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2019–2020 para selección; 2021 reservado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Un año reservado no sustituye validación multianual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Sensor / Serie II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Validación retrospectiva sobre jornadas existentes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No hay quinta jornada independiente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Precio / Serie III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Comparación temporal; referencia ingenua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Sin prueba ciega adicional al corte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87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1861-2CF7-483E-929A-B5652E5E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APÉNDICE · GLOSARIO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B2CA0-1378-4B99-8306-5AC10C6B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Términos para interpretar los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51A9-BEC6-4EED-87A8-7CCBEF88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Unidades y definiciones según artefactos de cada serie.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677DB-2D73-49D4-9FE3-3561E0CE486C}"/>
              </a:ext>
            </a:extLst>
          </p:cNvPr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334000"/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Término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Definición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MAE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Error absoluto medio; menor indica menor error en esa evaluación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P05–P95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Percentiles 5 y 95 del remuestreo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Aporte parcial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Estimación por acre antes de costos completos y condiciones de escala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Alerta / episodio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Observación que requiere revisión; no implica falla confirmada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1351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C0236-1348-48BE-9DC2-348F4EE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APÉNDICE · TRAZABILIDAD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0B560-600D-439F-8132-16BFA978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Resultados y fuentes por serie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028BF-CAEE-4521-9C2B-911FADC2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Archivos consolidados generados por las Series I–III.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D89B0-1941-44AE-97EB-B6791A78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Serie I: data/processed/serie1_*.csv · outputs/serie1_ranking/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E1ACA-E232-4AB5-A995-3E9C8293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Serie II: outputs/regimenes/, rezagos/, anomalias/, revision_termica/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56222-8193-4B87-AEEE-7C9DF47C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Serie III: outputs/serie3_segmentacion/, serie3_precios/, serie3_oferta/, serie3_pronostico_ampliado/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535F0-E4FC-47A6-BC53-8740BBA7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F2A2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A27"/>
                </a:solidFill>
                <a:latin typeface="Calibri"/>
                <a:ea typeface="Calibri"/>
                <a:cs typeface="Calibri"/>
              </a:rPr>
              <a:t>Conclusiones: docs/conclusiones-serie-I.md, II.md y III.md</a:t>
            </a:r>
          </a:p>
        </p:txBody>
      </p:sp>
    </p:spTree>
    <p:extLst>
      <p:ext uri="{BB962C8B-B14F-4D97-AF65-F5344CB8AC3E}">
        <p14:creationId xmlns:p14="http://schemas.microsoft.com/office/powerpoint/2010/main" val="19616521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60402-9DBF-4487-A47B-AEAC2968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C7A6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7A6B"/>
                </a:solidFill>
                <a:latin typeface="Calibri"/>
                <a:ea typeface="Calibri"/>
                <a:cs typeface="Calibri"/>
              </a:rPr>
              <a:t>APÉNDICE · LÍMITES TÉCNICOS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2EC6B-09F8-4A9C-9290-A87AED0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defPPr>
            <a:lvl1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1pPr>
            <a:lvl2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2pPr>
            <a:lvl3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3pPr>
            <a:lvl4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4pPr>
            <a:lvl5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5pPr>
            <a:lvl6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6pPr>
            <a:lvl7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7pPr>
            <a:lvl8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8pPr>
            <a:lvl9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3B32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53B32"/>
                </a:solidFill>
                <a:latin typeface="Calibri"/>
                <a:ea typeface="Calibri"/>
                <a:cs typeface="Calibri"/>
              </a:rPr>
              <a:t>La evidencia no identifica causas ni fallas por sí sola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336C7-FE40-4F28-AB7B-AA3A9AFF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defPPr>
            <a:lvl1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1pPr>
            <a:lvl2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2pPr>
            <a:lvl3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3pPr>
            <a:lvl4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4pPr>
            <a:lvl5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5pPr>
            <a:lvl6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6pPr>
            <a:lvl7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7pPr>
            <a:lvl8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8pPr>
            <a:lvl9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36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36D"/>
                </a:solidFill>
                <a:latin typeface="Calibri"/>
                <a:ea typeface="Calibri"/>
                <a:cs typeface="Calibri"/>
              </a:rPr>
              <a:t>Fuentes: bitácoras y conclusiones de Series I–III.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CFDFA-5F2C-4CE5-92D7-F0E8859EF3D1}"/>
              </a:ext>
            </a:extLst>
          </p:cNvPr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334000"/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No demostrado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Lo que muestran los datos</a:t>
                      </a:r>
                    </a:p>
                  </a:txBody>
                  <a:tcPr marL="91440" marR="91440" marT="45720" marB="45720">
                    <a:solidFill>
                      <a:srgbClr val="153B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Ahorro, eficiencia o rentabilidad neta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Comparaciones bajo supuestos registrados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Falla física de equipo o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Episodios que requieren verificación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Predicción operativa en tiempo real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Error retrospectivo en datos disponibles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Causalidad del precio sobre oferta local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7"/>
                          </a:solidFill>
                        </a:rPr>
                        <a:t>Asociaciones y desempeño retrospectivo por país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199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2026-10-21T09:22:18.5430000Z</dcterms:created>
  <dcterms:modified xsi:type="dcterms:W3CDTF">2026-10-21T09:22:18.5430000Z</dcterms:modified>
</coreProperties>
</file>